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1"/>
  </p:notesMasterIdLst>
  <p:sldIdLst>
    <p:sldId id="256" r:id="rId2"/>
    <p:sldId id="277" r:id="rId3"/>
    <p:sldId id="273" r:id="rId4"/>
    <p:sldId id="260" r:id="rId5"/>
    <p:sldId id="261" r:id="rId6"/>
    <p:sldId id="262" r:id="rId7"/>
    <p:sldId id="263" r:id="rId8"/>
    <p:sldId id="264" r:id="rId9"/>
    <p:sldId id="265" r:id="rId10"/>
    <p:sldId id="266" r:id="rId11"/>
    <p:sldId id="267" r:id="rId12"/>
    <p:sldId id="268" r:id="rId13"/>
    <p:sldId id="269" r:id="rId14"/>
    <p:sldId id="270" r:id="rId15"/>
    <p:sldId id="271" r:id="rId16"/>
    <p:sldId id="275" r:id="rId17"/>
    <p:sldId id="274" r:id="rId18"/>
    <p:sldId id="272" r:id="rId19"/>
    <p:sldId id="259" r:id="rId20"/>
  </p:sldIdLst>
  <p:sldSz cx="12192000" cy="6858000"/>
  <p:notesSz cx="6858000" cy="9144000"/>
  <p:embeddedFontLst>
    <p:embeddedFont>
      <p:font typeface="Arial Black" panose="020B0A04020102020204" pitchFamily="34" charset="0"/>
      <p:bold r:id="rId22"/>
    </p:embeddedFont>
    <p:embeddedFont>
      <p:font typeface="Castellar" panose="020A0402060406010301" pitchFamily="18" charset="0"/>
      <p:regular r:id="rId23"/>
    </p:embeddedFont>
    <p:embeddedFont>
      <p:font typeface="Garamond" panose="02020404030301010803" pitchFamily="18" charset="0"/>
      <p:regular r:id="rId24"/>
      <p:bold r:id="rId25"/>
      <p:italic r:id="rId26"/>
    </p:embeddedFont>
    <p:embeddedFont>
      <p:font typeface="Libre Baskerville" panose="02000000000000000000" pitchFamily="2" charset="0"/>
      <p:regular r:id="rId27"/>
      <p:bold r:id="rId28"/>
      <p:italic r:id="rId2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0"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5097" autoAdjust="0"/>
  </p:normalViewPr>
  <p:slideViewPr>
    <p:cSldViewPr snapToGrid="0">
      <p:cViewPr varScale="1">
        <p:scale>
          <a:sx n="79" d="100"/>
          <a:sy n="79" d="100"/>
        </p:scale>
        <p:origin x="840"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customschemas.google.com/relationships/presentationmetadata" Target="meta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5</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536927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pPr marL="0" lvl="0" indent="0" algn="r" rtl="0">
              <a:spcBef>
                <a:spcPts val="0"/>
              </a:spcBef>
              <a:spcAft>
                <a:spcPts val="0"/>
              </a:spcAft>
              <a:buNone/>
            </a:pPr>
            <a:fld id="{00000000-1234-1234-1234-123412341234}"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04470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828841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95878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2046411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73407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17264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0699335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7388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2490400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22804081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5812484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065010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189446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4295044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26200505"/>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214584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644991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F4"/>
          </a:solidFill>
          <a:ln/>
        </p:spPr>
      </p:sp>
      <p:sp>
        <p:nvSpPr>
          <p:cNvPr id="3" name="Shape 1"/>
          <p:cNvSpPr/>
          <p:nvPr/>
        </p:nvSpPr>
        <p:spPr>
          <a:xfrm>
            <a:off x="0" y="0"/>
            <a:ext cx="12192000" cy="68580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0699347" y="6457950"/>
            <a:ext cx="1435504" cy="342900"/>
          </a:xfrm>
          <a:prstGeom prst="rect">
            <a:avLst/>
          </a:prstGeom>
        </p:spPr>
      </p:pic>
    </p:spTree>
    <p:extLst>
      <p:ext uri="{BB962C8B-B14F-4D97-AF65-F5344CB8AC3E}">
        <p14:creationId xmlns:p14="http://schemas.microsoft.com/office/powerpoint/2010/main" val="3086838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947465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hf sldNum="0" hdr="0" ftr="0" dt="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29184"/>
            <a:ext cx="12190815" cy="6858000"/>
          </a:xfrm>
          <a:prstGeom prst="rect">
            <a:avLst/>
          </a:prstGeom>
          <a:noFill/>
          <a:ln>
            <a:noFill/>
          </a:ln>
        </p:spPr>
      </p:pic>
      <p:sp>
        <p:nvSpPr>
          <p:cNvPr id="99" name="Google Shape;99;p1"/>
          <p:cNvSpPr txBox="1"/>
          <p:nvPr/>
        </p:nvSpPr>
        <p:spPr>
          <a:xfrm>
            <a:off x="2472904" y="3902811"/>
            <a:ext cx="7246189" cy="83095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IN" sz="4800" b="1" dirty="0">
                <a:solidFill>
                  <a:schemeClr val="dk1"/>
                </a:solidFill>
                <a:latin typeface="Calibri"/>
                <a:cs typeface="Calibri"/>
                <a:sym typeface="Calibri"/>
              </a:rPr>
              <a:t>Retail Store Analysis</a:t>
            </a:r>
            <a:endParaRPr sz="4800" b="1" i="0" u="none" strike="noStrike" cap="none" dirty="0">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E4A0F3F6-70D8-5C3D-FFFA-E4EB9C1D1526}"/>
              </a:ext>
            </a:extLst>
          </p:cNvPr>
          <p:cNvSpPr txBox="1"/>
          <p:nvPr/>
        </p:nvSpPr>
        <p:spPr>
          <a:xfrm>
            <a:off x="8550613" y="5107021"/>
            <a:ext cx="2947481" cy="369332"/>
          </a:xfrm>
          <a:prstGeom prst="rect">
            <a:avLst/>
          </a:prstGeom>
          <a:noFill/>
        </p:spPr>
        <p:txBody>
          <a:bodyPr wrap="square" rtlCol="0">
            <a:spAutoFit/>
          </a:bodyPr>
          <a:lstStyle/>
          <a:p>
            <a:r>
              <a:rPr lang="en-IN" b="1" dirty="0"/>
              <a:t>By- Aditya Warungase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ext 0"/>
          <p:cNvSpPr/>
          <p:nvPr/>
        </p:nvSpPr>
        <p:spPr>
          <a:xfrm>
            <a:off x="552547" y="809662"/>
            <a:ext cx="10895509" cy="590649"/>
          </a:xfrm>
          <a:prstGeom prst="rect">
            <a:avLst/>
          </a:prstGeom>
          <a:noFill/>
          <a:ln/>
        </p:spPr>
        <p:txBody>
          <a:bodyPr wrap="none" lIns="0" tIns="0" rIns="0" bIns="0" rtlCol="0" anchor="t"/>
          <a:lstStyle/>
          <a:p>
            <a:pPr algn="ctr">
              <a:lnSpc>
                <a:spcPts val="4626"/>
              </a:lnSpc>
            </a:pPr>
            <a:r>
              <a:rPr lang="en-US" sz="3709" b="1" dirty="0">
                <a:solidFill>
                  <a:srgbClr val="000000"/>
                </a:solidFill>
                <a:latin typeface="Arial Black" panose="020B0A04020102020204" pitchFamily="34" charset="0"/>
                <a:ea typeface="Inter Bold" pitchFamily="34" charset="-122"/>
                <a:cs typeface="Inter Bold" pitchFamily="34" charset="-120"/>
              </a:rPr>
              <a:t>About Me</a:t>
            </a:r>
            <a:endParaRPr lang="en-US" sz="3709" dirty="0">
              <a:latin typeface="Arial Black" panose="020B0A04020102020204" pitchFamily="34" charset="0"/>
            </a:endParaRPr>
          </a:p>
        </p:txBody>
      </p:sp>
      <p:sp>
        <p:nvSpPr>
          <p:cNvPr id="3" name="Text 1"/>
          <p:cNvSpPr/>
          <p:nvPr/>
        </p:nvSpPr>
        <p:spPr>
          <a:xfrm>
            <a:off x="661492" y="2154535"/>
            <a:ext cx="6768009" cy="710655"/>
          </a:xfrm>
          <a:prstGeom prst="rect">
            <a:avLst/>
          </a:prstGeom>
          <a:noFill/>
          <a:ln/>
        </p:spPr>
        <p:txBody>
          <a:bodyPr wrap="none" lIns="0" tIns="0" rIns="0" bIns="0" rtlCol="0" anchor="t"/>
          <a:lstStyle/>
          <a:p>
            <a:pPr>
              <a:lnSpc>
                <a:spcPts val="2292"/>
              </a:lnSpc>
            </a:pPr>
            <a:r>
              <a:rPr lang="en-US" sz="1833" b="1" dirty="0">
                <a:solidFill>
                  <a:srgbClr val="000000"/>
                </a:solidFill>
                <a:latin typeface="Castellar" panose="020A0402060406010301" pitchFamily="18" charset="0"/>
                <a:ea typeface="Inter Bold" pitchFamily="34" charset="-122"/>
                <a:cs typeface="Inter Bold" pitchFamily="34" charset="-120"/>
              </a:rPr>
              <a:t>ADITYA Warungase</a:t>
            </a:r>
          </a:p>
          <a:p>
            <a:pPr>
              <a:lnSpc>
                <a:spcPts val="2292"/>
              </a:lnSpc>
            </a:pPr>
            <a:r>
              <a:rPr lang="en-US" sz="1333" dirty="0">
                <a:solidFill>
                  <a:srgbClr val="272525"/>
                </a:solidFill>
                <a:latin typeface="Arial Black" panose="020B0A04020102020204" pitchFamily="34" charset="0"/>
                <a:ea typeface="Inter" pitchFamily="34" charset="-122"/>
                <a:cs typeface="Inter" pitchFamily="34" charset="-120"/>
              </a:rPr>
              <a:t>Bachelor of Engineering in Artificial Intelligence and Data Science</a:t>
            </a:r>
            <a:endParaRPr lang="en-US" sz="1333" b="1" dirty="0">
              <a:solidFill>
                <a:srgbClr val="000000"/>
              </a:solidFill>
              <a:latin typeface="Inter Bold" pitchFamily="34" charset="0"/>
              <a:ea typeface="Inter Bold" pitchFamily="34" charset="-122"/>
              <a:cs typeface="Inter Bold" pitchFamily="34" charset="-120"/>
            </a:endParaRPr>
          </a:p>
          <a:p>
            <a:pPr>
              <a:lnSpc>
                <a:spcPts val="2292"/>
              </a:lnSpc>
            </a:pPr>
            <a:endParaRPr lang="en-US" sz="1833" b="1" dirty="0">
              <a:solidFill>
                <a:srgbClr val="000000"/>
              </a:solidFill>
              <a:latin typeface="Inter Bold" pitchFamily="34" charset="0"/>
              <a:ea typeface="Inter Bold" pitchFamily="34" charset="-122"/>
              <a:cs typeface="Inter Bold" pitchFamily="34" charset="-120"/>
            </a:endParaRPr>
          </a:p>
          <a:p>
            <a:pPr>
              <a:lnSpc>
                <a:spcPts val="2292"/>
              </a:lnSpc>
            </a:pPr>
            <a:endParaRPr lang="en-US" sz="1833" b="1" dirty="0">
              <a:solidFill>
                <a:srgbClr val="000000"/>
              </a:solidFill>
              <a:latin typeface="Inter Bold" pitchFamily="34" charset="0"/>
              <a:ea typeface="Inter Bold" pitchFamily="34" charset="-122"/>
              <a:cs typeface="Inter Bold" pitchFamily="34" charset="-120"/>
            </a:endParaRPr>
          </a:p>
          <a:p>
            <a:pPr>
              <a:lnSpc>
                <a:spcPts val="2292"/>
              </a:lnSpc>
            </a:pPr>
            <a:endParaRPr lang="en-US" sz="1833" dirty="0"/>
          </a:p>
        </p:txBody>
      </p:sp>
      <p:sp>
        <p:nvSpPr>
          <p:cNvPr id="13" name="Text 11"/>
          <p:cNvSpPr/>
          <p:nvPr/>
        </p:nvSpPr>
        <p:spPr>
          <a:xfrm>
            <a:off x="841276" y="5577397"/>
            <a:ext cx="5203924" cy="302419"/>
          </a:xfrm>
          <a:prstGeom prst="rect">
            <a:avLst/>
          </a:prstGeom>
          <a:noFill/>
          <a:ln/>
        </p:spPr>
        <p:txBody>
          <a:bodyPr wrap="none" lIns="0" tIns="0" rIns="0" bIns="0" rtlCol="0" anchor="t"/>
          <a:lstStyle/>
          <a:p>
            <a:pPr>
              <a:lnSpc>
                <a:spcPts val="2375"/>
              </a:lnSpc>
            </a:pPr>
            <a:r>
              <a:rPr lang="en-US" sz="1459" dirty="0" err="1">
                <a:solidFill>
                  <a:srgbClr val="272525"/>
                </a:solidFill>
                <a:latin typeface="Inter" pitchFamily="34" charset="0"/>
                <a:ea typeface="Inter" pitchFamily="34" charset="-122"/>
                <a:cs typeface="Inter" pitchFamily="34" charset="-120"/>
              </a:rPr>
              <a:t>Linkedln</a:t>
            </a:r>
            <a:r>
              <a:rPr lang="en-US" sz="1459" dirty="0">
                <a:solidFill>
                  <a:srgbClr val="272525"/>
                </a:solidFill>
                <a:latin typeface="Inter" pitchFamily="34" charset="0"/>
                <a:ea typeface="Inter" pitchFamily="34" charset="-122"/>
                <a:cs typeface="Inter" pitchFamily="34" charset="-120"/>
              </a:rPr>
              <a:t> | GitHub</a:t>
            </a:r>
            <a:endParaRPr lang="en-US" sz="1459" dirty="0"/>
          </a:p>
        </p:txBody>
      </p:sp>
      <p:sp>
        <p:nvSpPr>
          <p:cNvPr id="14" name="Rectangle 13">
            <a:extLst>
              <a:ext uri="{FF2B5EF4-FFF2-40B4-BE49-F238E27FC236}">
                <a16:creationId xmlns:a16="http://schemas.microsoft.com/office/drawing/2014/main" id="{022E82D3-5A13-4F21-9362-A3569B7889A2}"/>
              </a:ext>
            </a:extLst>
          </p:cNvPr>
          <p:cNvSpPr/>
          <p:nvPr/>
        </p:nvSpPr>
        <p:spPr>
          <a:xfrm>
            <a:off x="10687291" y="5654256"/>
            <a:ext cx="1427545" cy="112658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sz="1500"/>
          </a:p>
        </p:txBody>
      </p:sp>
      <p:pic>
        <p:nvPicPr>
          <p:cNvPr id="16" name="Picture 15">
            <a:extLst>
              <a:ext uri="{FF2B5EF4-FFF2-40B4-BE49-F238E27FC236}">
                <a16:creationId xmlns:a16="http://schemas.microsoft.com/office/drawing/2014/main" id="{A142F9CC-FC49-4177-8F7C-F41558670411}"/>
              </a:ext>
            </a:extLst>
          </p:cNvPr>
          <p:cNvPicPr>
            <a:picLocks noChangeAspect="1"/>
          </p:cNvPicPr>
          <p:nvPr/>
        </p:nvPicPr>
        <p:blipFill>
          <a:blip r:embed="rId3"/>
          <a:stretch>
            <a:fillRect/>
          </a:stretch>
        </p:blipFill>
        <p:spPr>
          <a:xfrm>
            <a:off x="10379566" y="6325173"/>
            <a:ext cx="1682837" cy="354560"/>
          </a:xfrm>
          <a:prstGeom prst="rect">
            <a:avLst/>
          </a:prstGeom>
        </p:spPr>
      </p:pic>
      <p:sp>
        <p:nvSpPr>
          <p:cNvPr id="20" name="Text 3">
            <a:extLst>
              <a:ext uri="{FF2B5EF4-FFF2-40B4-BE49-F238E27FC236}">
                <a16:creationId xmlns:a16="http://schemas.microsoft.com/office/drawing/2014/main" id="{025A0E3A-2522-4D2F-ACF0-E2746A462913}"/>
              </a:ext>
            </a:extLst>
          </p:cNvPr>
          <p:cNvSpPr/>
          <p:nvPr/>
        </p:nvSpPr>
        <p:spPr>
          <a:xfrm>
            <a:off x="661491" y="2864234"/>
            <a:ext cx="5203924" cy="2488863"/>
          </a:xfrm>
          <a:prstGeom prst="rect">
            <a:avLst/>
          </a:prstGeom>
          <a:noFill/>
          <a:ln/>
        </p:spPr>
        <p:txBody>
          <a:bodyPr wrap="square" lIns="0" tIns="0" rIns="0" bIns="0" rtlCol="0" anchor="t"/>
          <a:lstStyle/>
          <a:p>
            <a:pPr>
              <a:lnSpc>
                <a:spcPts val="2375"/>
              </a:lnSpc>
            </a:pPr>
            <a:r>
              <a:rPr lang="en-US" sz="1333" dirty="0">
                <a:latin typeface="Arial Black" panose="020B0A04020102020204" pitchFamily="34" charset="0"/>
              </a:rPr>
              <a:t>I am passionate about Data Science, as I enjoy working with data, uncovering insights, and transforming information into meaningful solutions.</a:t>
            </a:r>
          </a:p>
          <a:p>
            <a:pPr>
              <a:lnSpc>
                <a:spcPts val="2375"/>
              </a:lnSpc>
            </a:pPr>
            <a:r>
              <a:rPr lang="en-US" sz="1333" dirty="0">
                <a:latin typeface="Arial Black" panose="020B0A04020102020204" pitchFamily="34" charset="0"/>
              </a:rPr>
              <a:t>I love exploring new technologies, solving real-world problems, and continuously improving my technical skills</a:t>
            </a:r>
          </a:p>
          <a:p>
            <a:pPr>
              <a:lnSpc>
                <a:spcPts val="2375"/>
              </a:lnSpc>
            </a:pPr>
            <a:r>
              <a:rPr lang="en-US" sz="1333" dirty="0">
                <a:latin typeface="Arial Black" panose="020B0A04020102020204" pitchFamily="34" charset="0"/>
              </a:rPr>
              <a:t>My goal is to make data tell impactful stories that drive smart decisions</a:t>
            </a:r>
            <a:r>
              <a:rPr lang="en-US" sz="1459" dirty="0">
                <a:latin typeface="Arial Black" panose="020B0A04020102020204" pitchFamily="34" charset="0"/>
              </a:rPr>
              <a:t>.</a:t>
            </a:r>
            <a:endParaRPr lang="en-US" sz="1333" dirty="0">
              <a:latin typeface="Arial Black" panose="020B0A04020102020204" pitchFamily="34" charset="0"/>
            </a:endParaRPr>
          </a:p>
        </p:txBody>
      </p:sp>
      <p:pic>
        <p:nvPicPr>
          <p:cNvPr id="6" name="Picture 5">
            <a:extLst>
              <a:ext uri="{FF2B5EF4-FFF2-40B4-BE49-F238E27FC236}">
                <a16:creationId xmlns:a16="http://schemas.microsoft.com/office/drawing/2014/main" id="{3F7D9A03-93B7-40F1-B912-688219B842EC}"/>
              </a:ext>
            </a:extLst>
          </p:cNvPr>
          <p:cNvPicPr>
            <a:picLocks noChangeAspect="1"/>
          </p:cNvPicPr>
          <p:nvPr/>
        </p:nvPicPr>
        <p:blipFill>
          <a:blip r:embed="rId4"/>
          <a:stretch>
            <a:fillRect/>
          </a:stretch>
        </p:blipFill>
        <p:spPr>
          <a:xfrm>
            <a:off x="7569200" y="1803400"/>
            <a:ext cx="3251200" cy="3251200"/>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FE74D-9F6C-9693-3B7E-2E63DDD41583}"/>
              </a:ext>
            </a:extLst>
          </p:cNvPr>
          <p:cNvSpPr>
            <a:spLocks noGrp="1"/>
          </p:cNvSpPr>
          <p:nvPr>
            <p:ph type="title"/>
          </p:nvPr>
        </p:nvSpPr>
        <p:spPr/>
        <p:txBody>
          <a:bodyPr/>
          <a:lstStyle/>
          <a:p>
            <a:r>
              <a:rPr lang="en-IN" b="1" dirty="0"/>
              <a:t>Index</a:t>
            </a:r>
          </a:p>
        </p:txBody>
      </p:sp>
      <p:graphicFrame>
        <p:nvGraphicFramePr>
          <p:cNvPr id="3" name="Table 2">
            <a:extLst>
              <a:ext uri="{FF2B5EF4-FFF2-40B4-BE49-F238E27FC236}">
                <a16:creationId xmlns:a16="http://schemas.microsoft.com/office/drawing/2014/main" id="{3169606C-6C10-A496-C31E-C72AD22E6DEB}"/>
              </a:ext>
            </a:extLst>
          </p:cNvPr>
          <p:cNvGraphicFramePr>
            <a:graphicFrameLocks noGrp="1"/>
          </p:cNvGraphicFramePr>
          <p:nvPr>
            <p:extLst>
              <p:ext uri="{D42A27DB-BD31-4B8C-83A1-F6EECF244321}">
                <p14:modId xmlns:p14="http://schemas.microsoft.com/office/powerpoint/2010/main" val="3306060505"/>
              </p:ext>
            </p:extLst>
          </p:nvPr>
        </p:nvGraphicFramePr>
        <p:xfrm>
          <a:off x="2177915" y="2501900"/>
          <a:ext cx="8128000" cy="2595880"/>
        </p:xfrm>
        <a:graphic>
          <a:graphicData uri="http://schemas.openxmlformats.org/drawingml/2006/table">
            <a:tbl>
              <a:tblPr firstRow="1" bandRow="1">
                <a:tableStyleId>{F5AB1C69-6EDB-4FF4-983F-18BD219EF322}</a:tableStyleId>
              </a:tblPr>
              <a:tblGrid>
                <a:gridCol w="536102">
                  <a:extLst>
                    <a:ext uri="{9D8B030D-6E8A-4147-A177-3AD203B41FA5}">
                      <a16:colId xmlns:a16="http://schemas.microsoft.com/office/drawing/2014/main" val="3762233638"/>
                    </a:ext>
                  </a:extLst>
                </a:gridCol>
                <a:gridCol w="7591898">
                  <a:extLst>
                    <a:ext uri="{9D8B030D-6E8A-4147-A177-3AD203B41FA5}">
                      <a16:colId xmlns:a16="http://schemas.microsoft.com/office/drawing/2014/main" val="4028056938"/>
                    </a:ext>
                  </a:extLst>
                </a:gridCol>
              </a:tblGrid>
              <a:tr h="370840">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16455065"/>
                  </a:ext>
                </a:extLst>
              </a:tr>
              <a:tr h="370840">
                <a:tc>
                  <a:txBody>
                    <a:bodyPr/>
                    <a:lstStyle/>
                    <a:p>
                      <a:r>
                        <a:rPr lang="en-IN" dirty="0"/>
                        <a:t>1.</a:t>
                      </a:r>
                    </a:p>
                  </a:txBody>
                  <a:tcPr/>
                </a:tc>
                <a:tc>
                  <a:txBody>
                    <a:bodyPr/>
                    <a:lstStyle/>
                    <a:p>
                      <a:r>
                        <a:rPr lang="en-IN" dirty="0"/>
                        <a:t>Business Objective</a:t>
                      </a:r>
                    </a:p>
                  </a:txBody>
                  <a:tcPr/>
                </a:tc>
                <a:extLst>
                  <a:ext uri="{0D108BD9-81ED-4DB2-BD59-A6C34878D82A}">
                    <a16:rowId xmlns:a16="http://schemas.microsoft.com/office/drawing/2014/main" val="1829859968"/>
                  </a:ext>
                </a:extLst>
              </a:tr>
              <a:tr h="370840">
                <a:tc>
                  <a:txBody>
                    <a:bodyPr/>
                    <a:lstStyle/>
                    <a:p>
                      <a:r>
                        <a:rPr lang="en-IN" dirty="0"/>
                        <a:t>2.</a:t>
                      </a:r>
                    </a:p>
                  </a:txBody>
                  <a:tcPr/>
                </a:tc>
                <a:tc>
                  <a:txBody>
                    <a:bodyPr/>
                    <a:lstStyle/>
                    <a:p>
                      <a:r>
                        <a:rPr lang="en-IN" dirty="0"/>
                        <a:t>Entity relationship diagram (ERD)</a:t>
                      </a:r>
                    </a:p>
                  </a:txBody>
                  <a:tcPr/>
                </a:tc>
                <a:extLst>
                  <a:ext uri="{0D108BD9-81ED-4DB2-BD59-A6C34878D82A}">
                    <a16:rowId xmlns:a16="http://schemas.microsoft.com/office/drawing/2014/main" val="1748777735"/>
                  </a:ext>
                </a:extLst>
              </a:tr>
              <a:tr h="370840">
                <a:tc>
                  <a:txBody>
                    <a:bodyPr/>
                    <a:lstStyle/>
                    <a:p>
                      <a:r>
                        <a:rPr lang="en-IN" dirty="0"/>
                        <a:t>3.</a:t>
                      </a:r>
                    </a:p>
                  </a:txBody>
                  <a:tcPr/>
                </a:tc>
                <a:tc>
                  <a:txBody>
                    <a:bodyPr/>
                    <a:lstStyle/>
                    <a:p>
                      <a:r>
                        <a:rPr lang="en-IN" dirty="0"/>
                        <a:t>SQL Queries and Results</a:t>
                      </a:r>
                    </a:p>
                  </a:txBody>
                  <a:tcPr/>
                </a:tc>
                <a:extLst>
                  <a:ext uri="{0D108BD9-81ED-4DB2-BD59-A6C34878D82A}">
                    <a16:rowId xmlns:a16="http://schemas.microsoft.com/office/drawing/2014/main" val="136995613"/>
                  </a:ext>
                </a:extLst>
              </a:tr>
              <a:tr h="370840">
                <a:tc>
                  <a:txBody>
                    <a:bodyPr/>
                    <a:lstStyle/>
                    <a:p>
                      <a:r>
                        <a:rPr lang="en-IN" dirty="0"/>
                        <a:t>4.</a:t>
                      </a:r>
                    </a:p>
                  </a:txBody>
                  <a:tcPr/>
                </a:tc>
                <a:tc>
                  <a:txBody>
                    <a:bodyPr/>
                    <a:lstStyle/>
                    <a:p>
                      <a:r>
                        <a:rPr lang="en-IN" dirty="0"/>
                        <a:t>Final Business Insights</a:t>
                      </a:r>
                    </a:p>
                  </a:txBody>
                  <a:tcPr/>
                </a:tc>
                <a:extLst>
                  <a:ext uri="{0D108BD9-81ED-4DB2-BD59-A6C34878D82A}">
                    <a16:rowId xmlns:a16="http://schemas.microsoft.com/office/drawing/2014/main" val="1801144876"/>
                  </a:ext>
                </a:extLst>
              </a:tr>
              <a:tr h="370840">
                <a:tc>
                  <a:txBody>
                    <a:bodyPr/>
                    <a:lstStyle/>
                    <a:p>
                      <a:r>
                        <a:rPr lang="en-IN" dirty="0"/>
                        <a:t>5.</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t>My Experience / Challenges</a:t>
                      </a:r>
                    </a:p>
                  </a:txBody>
                  <a:tcPr/>
                </a:tc>
                <a:extLst>
                  <a:ext uri="{0D108BD9-81ED-4DB2-BD59-A6C34878D82A}">
                    <a16:rowId xmlns:a16="http://schemas.microsoft.com/office/drawing/2014/main" val="354448314"/>
                  </a:ext>
                </a:extLst>
              </a:tr>
              <a:tr h="370840">
                <a:tc>
                  <a:txBody>
                    <a:bodyPr/>
                    <a:lstStyle/>
                    <a:p>
                      <a:r>
                        <a:rPr lang="en-IN" dirty="0"/>
                        <a:t>6.</a:t>
                      </a:r>
                    </a:p>
                  </a:txBody>
                  <a:tcPr/>
                </a:tc>
                <a:tc>
                  <a:txBody>
                    <a:bodyPr/>
                    <a:lstStyle/>
                    <a:p>
                      <a:r>
                        <a:rPr lang="en-IN" dirty="0"/>
                        <a:t>Conclusion</a:t>
                      </a:r>
                    </a:p>
                  </a:txBody>
                  <a:tcPr/>
                </a:tc>
                <a:extLst>
                  <a:ext uri="{0D108BD9-81ED-4DB2-BD59-A6C34878D82A}">
                    <a16:rowId xmlns:a16="http://schemas.microsoft.com/office/drawing/2014/main" val="78831078"/>
                  </a:ext>
                </a:extLst>
              </a:tr>
            </a:tbl>
          </a:graphicData>
        </a:graphic>
      </p:graphicFrame>
    </p:spTree>
    <p:extLst>
      <p:ext uri="{BB962C8B-B14F-4D97-AF65-F5344CB8AC3E}">
        <p14:creationId xmlns:p14="http://schemas.microsoft.com/office/powerpoint/2010/main" val="27344358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75C5F-9B17-AA10-ABD7-31BED650867A}"/>
              </a:ext>
            </a:extLst>
          </p:cNvPr>
          <p:cNvSpPr>
            <a:spLocks noGrp="1"/>
          </p:cNvSpPr>
          <p:nvPr>
            <p:ph type="title"/>
          </p:nvPr>
        </p:nvSpPr>
        <p:spPr/>
        <p:txBody>
          <a:bodyPr/>
          <a:lstStyle/>
          <a:p>
            <a:r>
              <a:rPr lang="en-IN" b="1" dirty="0"/>
              <a:t>Business Objective</a:t>
            </a:r>
            <a:endParaRPr lang="en-IN" dirty="0"/>
          </a:p>
        </p:txBody>
      </p:sp>
      <p:sp>
        <p:nvSpPr>
          <p:cNvPr id="3" name="Text Placeholder 2">
            <a:extLst>
              <a:ext uri="{FF2B5EF4-FFF2-40B4-BE49-F238E27FC236}">
                <a16:creationId xmlns:a16="http://schemas.microsoft.com/office/drawing/2014/main" id="{2BA372EB-D0A2-196D-3896-08F80A039FDE}"/>
              </a:ext>
            </a:extLst>
          </p:cNvPr>
          <p:cNvSpPr>
            <a:spLocks noGrp="1"/>
          </p:cNvSpPr>
          <p:nvPr>
            <p:ph idx="1"/>
          </p:nvPr>
        </p:nvSpPr>
        <p:spPr/>
        <p:txBody>
          <a:bodyPr/>
          <a:lstStyle/>
          <a:p>
            <a:r>
              <a:rPr lang="en-US" dirty="0"/>
              <a:t>The objective of this project is to analyze a real-world retail dataset using SQL to derive meaningful business insights. </a:t>
            </a:r>
          </a:p>
          <a:p>
            <a:r>
              <a:rPr lang="en-US" dirty="0"/>
              <a:t>The project focuses on understanding customer behavior, order and delivery performance, product and category trends, payment patterns, review sentiments, and seller/location performance.</a:t>
            </a:r>
          </a:p>
          <a:p>
            <a:r>
              <a:rPr lang="en-US" dirty="0"/>
              <a:t> By applying SQL concepts such as joins, aggregations, subqueries, and window functions, the project aims to support data-driven decision-making and demonstrate practical data analysis skills in a retail business context</a:t>
            </a:r>
            <a:endParaRPr lang="en-IN" dirty="0"/>
          </a:p>
        </p:txBody>
      </p:sp>
    </p:spTree>
    <p:extLst>
      <p:ext uri="{BB962C8B-B14F-4D97-AF65-F5344CB8AC3E}">
        <p14:creationId xmlns:p14="http://schemas.microsoft.com/office/powerpoint/2010/main" val="14087158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4ABFC-ABED-7CDA-8B33-ED44C1056E28}"/>
              </a:ext>
            </a:extLst>
          </p:cNvPr>
          <p:cNvSpPr>
            <a:spLocks noGrp="1"/>
          </p:cNvSpPr>
          <p:nvPr>
            <p:ph type="title"/>
          </p:nvPr>
        </p:nvSpPr>
        <p:spPr>
          <a:xfrm>
            <a:off x="1061938" y="386821"/>
            <a:ext cx="9601196" cy="1303867"/>
          </a:xfrm>
        </p:spPr>
        <p:txBody>
          <a:bodyPr/>
          <a:lstStyle/>
          <a:p>
            <a:r>
              <a:rPr lang="en-IN" b="1" dirty="0"/>
              <a:t>ER Diagram</a:t>
            </a:r>
            <a:endParaRPr lang="en-IN" dirty="0"/>
          </a:p>
        </p:txBody>
      </p:sp>
      <p:pic>
        <p:nvPicPr>
          <p:cNvPr id="5" name="Picture 4" descr="A screenshot of a computer&#10;&#10;AI-generated content may be incorrect.">
            <a:extLst>
              <a:ext uri="{FF2B5EF4-FFF2-40B4-BE49-F238E27FC236}">
                <a16:creationId xmlns:a16="http://schemas.microsoft.com/office/drawing/2014/main" id="{FFD23D41-BE54-4310-BDB1-B092DB9DB3F7}"/>
              </a:ext>
            </a:extLst>
          </p:cNvPr>
          <p:cNvPicPr>
            <a:picLocks noChangeAspect="1"/>
          </p:cNvPicPr>
          <p:nvPr/>
        </p:nvPicPr>
        <p:blipFill>
          <a:blip r:embed="rId3"/>
          <a:stretch>
            <a:fillRect/>
          </a:stretch>
        </p:blipFill>
        <p:spPr>
          <a:xfrm>
            <a:off x="1061938" y="1420238"/>
            <a:ext cx="10068124" cy="4737371"/>
          </a:xfrm>
          <a:prstGeom prst="rect">
            <a:avLst/>
          </a:prstGeom>
        </p:spPr>
      </p:pic>
    </p:spTree>
    <p:extLst>
      <p:ext uri="{BB962C8B-B14F-4D97-AF65-F5344CB8AC3E}">
        <p14:creationId xmlns:p14="http://schemas.microsoft.com/office/powerpoint/2010/main" val="28055262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D2BBE-96CB-9E2F-8EE6-59D2F0970F41}"/>
              </a:ext>
            </a:extLst>
          </p:cNvPr>
          <p:cNvSpPr>
            <a:spLocks noGrp="1"/>
          </p:cNvSpPr>
          <p:nvPr>
            <p:ph type="title"/>
          </p:nvPr>
        </p:nvSpPr>
        <p:spPr>
          <a:xfrm>
            <a:off x="1295402" y="603503"/>
            <a:ext cx="9601196" cy="1303867"/>
          </a:xfrm>
        </p:spPr>
        <p:txBody>
          <a:bodyPr/>
          <a:lstStyle/>
          <a:p>
            <a:r>
              <a:rPr lang="en-IN" b="1" dirty="0"/>
              <a:t>Customer Analysis</a:t>
            </a:r>
          </a:p>
        </p:txBody>
      </p:sp>
      <p:pic>
        <p:nvPicPr>
          <p:cNvPr id="5" name="Picture 4" descr="A white background with black text&#10;&#10;AI-generated content may be incorrect.">
            <a:extLst>
              <a:ext uri="{FF2B5EF4-FFF2-40B4-BE49-F238E27FC236}">
                <a16:creationId xmlns:a16="http://schemas.microsoft.com/office/drawing/2014/main" id="{374B4247-5CAF-B695-62DA-75DB3ED8555A}"/>
              </a:ext>
            </a:extLst>
          </p:cNvPr>
          <p:cNvPicPr>
            <a:picLocks noChangeAspect="1"/>
          </p:cNvPicPr>
          <p:nvPr/>
        </p:nvPicPr>
        <p:blipFill>
          <a:blip r:embed="rId2"/>
          <a:srcRect t="17006"/>
          <a:stretch>
            <a:fillRect/>
          </a:stretch>
        </p:blipFill>
        <p:spPr>
          <a:xfrm>
            <a:off x="1397541" y="2773630"/>
            <a:ext cx="6319603" cy="1252372"/>
          </a:xfrm>
          <a:prstGeom prst="rect">
            <a:avLst/>
          </a:prstGeom>
        </p:spPr>
      </p:pic>
      <p:pic>
        <p:nvPicPr>
          <p:cNvPr id="7" name="Picture 6" descr="A close up of a computer screen&#10;&#10;AI-generated content may be incorrect.">
            <a:extLst>
              <a:ext uri="{FF2B5EF4-FFF2-40B4-BE49-F238E27FC236}">
                <a16:creationId xmlns:a16="http://schemas.microsoft.com/office/drawing/2014/main" id="{74B86493-A0EE-2679-F9AA-35FE2896AD01}"/>
              </a:ext>
            </a:extLst>
          </p:cNvPr>
          <p:cNvPicPr>
            <a:picLocks noChangeAspect="1"/>
          </p:cNvPicPr>
          <p:nvPr/>
        </p:nvPicPr>
        <p:blipFill>
          <a:blip r:embed="rId3"/>
          <a:stretch>
            <a:fillRect/>
          </a:stretch>
        </p:blipFill>
        <p:spPr>
          <a:xfrm>
            <a:off x="7521587" y="4572001"/>
            <a:ext cx="3512236" cy="1165424"/>
          </a:xfrm>
          <a:prstGeom prst="rect">
            <a:avLst/>
          </a:prstGeom>
        </p:spPr>
      </p:pic>
      <p:sp>
        <p:nvSpPr>
          <p:cNvPr id="8" name="TextBox 7">
            <a:extLst>
              <a:ext uri="{FF2B5EF4-FFF2-40B4-BE49-F238E27FC236}">
                <a16:creationId xmlns:a16="http://schemas.microsoft.com/office/drawing/2014/main" id="{9BD4AD0E-FEEC-BE1C-899E-E55028269BA6}"/>
              </a:ext>
            </a:extLst>
          </p:cNvPr>
          <p:cNvSpPr txBox="1"/>
          <p:nvPr/>
        </p:nvSpPr>
        <p:spPr>
          <a:xfrm>
            <a:off x="1397541" y="2082741"/>
            <a:ext cx="4698459" cy="369332"/>
          </a:xfrm>
          <a:prstGeom prst="rect">
            <a:avLst/>
          </a:prstGeom>
          <a:noFill/>
        </p:spPr>
        <p:txBody>
          <a:bodyPr wrap="square" rtlCol="0">
            <a:spAutoFit/>
          </a:bodyPr>
          <a:lstStyle/>
          <a:p>
            <a:r>
              <a:rPr lang="en-IN" b="1" dirty="0"/>
              <a:t>Find the total number of unique customers</a:t>
            </a:r>
          </a:p>
        </p:txBody>
      </p:sp>
    </p:spTree>
    <p:extLst>
      <p:ext uri="{BB962C8B-B14F-4D97-AF65-F5344CB8AC3E}">
        <p14:creationId xmlns:p14="http://schemas.microsoft.com/office/powerpoint/2010/main" val="17048335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124C4-24F0-45BE-F161-8F99B2608938}"/>
              </a:ext>
            </a:extLst>
          </p:cNvPr>
          <p:cNvSpPr>
            <a:spLocks noGrp="1"/>
          </p:cNvSpPr>
          <p:nvPr>
            <p:ph type="title"/>
          </p:nvPr>
        </p:nvSpPr>
        <p:spPr>
          <a:xfrm>
            <a:off x="-338349" y="1791955"/>
            <a:ext cx="9601196" cy="889228"/>
          </a:xfrm>
        </p:spPr>
        <p:txBody>
          <a:bodyPr>
            <a:normAutofit/>
          </a:bodyPr>
          <a:lstStyle/>
          <a:p>
            <a:r>
              <a:rPr lang="en-IN" sz="1800" b="1" dirty="0"/>
              <a:t>Identify the top 5 states with the highest number of customers</a:t>
            </a:r>
          </a:p>
        </p:txBody>
      </p:sp>
      <p:pic>
        <p:nvPicPr>
          <p:cNvPr id="5" name="Picture 4" descr="A white background with blue text&#10;&#10;AI-generated content may be incorrect.">
            <a:extLst>
              <a:ext uri="{FF2B5EF4-FFF2-40B4-BE49-F238E27FC236}">
                <a16:creationId xmlns:a16="http://schemas.microsoft.com/office/drawing/2014/main" id="{92542F27-C570-23CD-8151-F2CA84A44D18}"/>
              </a:ext>
            </a:extLst>
          </p:cNvPr>
          <p:cNvPicPr>
            <a:picLocks noChangeAspect="1"/>
          </p:cNvPicPr>
          <p:nvPr/>
        </p:nvPicPr>
        <p:blipFill>
          <a:blip r:embed="rId2"/>
          <a:srcRect t="13828"/>
          <a:stretch>
            <a:fillRect/>
          </a:stretch>
        </p:blipFill>
        <p:spPr>
          <a:xfrm>
            <a:off x="1304634" y="2888003"/>
            <a:ext cx="5792008" cy="1288815"/>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0A9D010E-D5EE-3387-7C62-AC22BFB3C100}"/>
              </a:ext>
            </a:extLst>
          </p:cNvPr>
          <p:cNvPicPr>
            <a:picLocks noChangeAspect="1"/>
          </p:cNvPicPr>
          <p:nvPr/>
        </p:nvPicPr>
        <p:blipFill>
          <a:blip r:embed="rId3"/>
          <a:stretch>
            <a:fillRect/>
          </a:stretch>
        </p:blipFill>
        <p:spPr>
          <a:xfrm>
            <a:off x="8172362" y="4338437"/>
            <a:ext cx="2715004" cy="1486107"/>
          </a:xfrm>
          <a:prstGeom prst="rect">
            <a:avLst/>
          </a:prstGeom>
        </p:spPr>
      </p:pic>
    </p:spTree>
    <p:extLst>
      <p:ext uri="{BB962C8B-B14F-4D97-AF65-F5344CB8AC3E}">
        <p14:creationId xmlns:p14="http://schemas.microsoft.com/office/powerpoint/2010/main" val="25468799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814BC-1A42-97E5-CD30-6315A391DFDA}"/>
              </a:ext>
            </a:extLst>
          </p:cNvPr>
          <p:cNvSpPr>
            <a:spLocks noGrp="1"/>
          </p:cNvSpPr>
          <p:nvPr>
            <p:ph type="title"/>
          </p:nvPr>
        </p:nvSpPr>
        <p:spPr>
          <a:xfrm>
            <a:off x="1295402" y="585036"/>
            <a:ext cx="9601196" cy="1303867"/>
          </a:xfrm>
        </p:spPr>
        <p:txBody>
          <a:bodyPr/>
          <a:lstStyle/>
          <a:p>
            <a:r>
              <a:rPr lang="en-IN" b="1" dirty="0"/>
              <a:t>Order &amp; Delivery Analysis</a:t>
            </a:r>
          </a:p>
        </p:txBody>
      </p:sp>
      <p:pic>
        <p:nvPicPr>
          <p:cNvPr id="5" name="Picture 4" descr="A close-up of a computer screen&#10;&#10;AI-generated content may be incorrect.">
            <a:extLst>
              <a:ext uri="{FF2B5EF4-FFF2-40B4-BE49-F238E27FC236}">
                <a16:creationId xmlns:a16="http://schemas.microsoft.com/office/drawing/2014/main" id="{A2192A5A-F85F-D69F-D5C3-0DAE7E0101A7}"/>
              </a:ext>
            </a:extLst>
          </p:cNvPr>
          <p:cNvPicPr>
            <a:picLocks noChangeAspect="1"/>
          </p:cNvPicPr>
          <p:nvPr/>
        </p:nvPicPr>
        <p:blipFill>
          <a:blip r:embed="rId2"/>
          <a:srcRect t="18546"/>
          <a:stretch>
            <a:fillRect/>
          </a:stretch>
        </p:blipFill>
        <p:spPr>
          <a:xfrm>
            <a:off x="1382951" y="3093396"/>
            <a:ext cx="5182323" cy="869078"/>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C8B22272-616F-5EF7-ABC4-3C06FF801A8C}"/>
              </a:ext>
            </a:extLst>
          </p:cNvPr>
          <p:cNvPicPr>
            <a:picLocks noChangeAspect="1"/>
          </p:cNvPicPr>
          <p:nvPr/>
        </p:nvPicPr>
        <p:blipFill>
          <a:blip r:embed="rId3"/>
          <a:stretch>
            <a:fillRect/>
          </a:stretch>
        </p:blipFill>
        <p:spPr>
          <a:xfrm>
            <a:off x="8829385" y="3699301"/>
            <a:ext cx="2067213" cy="2105319"/>
          </a:xfrm>
          <a:prstGeom prst="rect">
            <a:avLst/>
          </a:prstGeom>
        </p:spPr>
      </p:pic>
      <p:sp>
        <p:nvSpPr>
          <p:cNvPr id="8" name="TextBox 7">
            <a:extLst>
              <a:ext uri="{FF2B5EF4-FFF2-40B4-BE49-F238E27FC236}">
                <a16:creationId xmlns:a16="http://schemas.microsoft.com/office/drawing/2014/main" id="{CE681D30-9C6D-6990-3C42-640EA6F43AC1}"/>
              </a:ext>
            </a:extLst>
          </p:cNvPr>
          <p:cNvSpPr txBox="1"/>
          <p:nvPr/>
        </p:nvSpPr>
        <p:spPr>
          <a:xfrm>
            <a:off x="1382951" y="2101333"/>
            <a:ext cx="7955602" cy="369332"/>
          </a:xfrm>
          <a:prstGeom prst="rect">
            <a:avLst/>
          </a:prstGeom>
          <a:noFill/>
        </p:spPr>
        <p:txBody>
          <a:bodyPr wrap="square" rtlCol="0">
            <a:spAutoFit/>
          </a:bodyPr>
          <a:lstStyle/>
          <a:p>
            <a:r>
              <a:rPr lang="en-IN" b="1" dirty="0"/>
              <a:t>Count the total number of delivered vs </a:t>
            </a:r>
            <a:r>
              <a:rPr lang="en-IN" b="1" dirty="0" err="1"/>
              <a:t>canceled</a:t>
            </a:r>
            <a:r>
              <a:rPr lang="en-IN" b="1" dirty="0"/>
              <a:t> orders</a:t>
            </a:r>
          </a:p>
        </p:txBody>
      </p:sp>
    </p:spTree>
    <p:extLst>
      <p:ext uri="{BB962C8B-B14F-4D97-AF65-F5344CB8AC3E}">
        <p14:creationId xmlns:p14="http://schemas.microsoft.com/office/powerpoint/2010/main" val="59833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 shot of a computer&#10;&#10;AI-generated content may be incorrect.">
            <a:extLst>
              <a:ext uri="{FF2B5EF4-FFF2-40B4-BE49-F238E27FC236}">
                <a16:creationId xmlns:a16="http://schemas.microsoft.com/office/drawing/2014/main" id="{4828CD27-F514-7467-BA0A-8A1DC6069EB5}"/>
              </a:ext>
            </a:extLst>
          </p:cNvPr>
          <p:cNvPicPr>
            <a:picLocks noChangeAspect="1"/>
          </p:cNvPicPr>
          <p:nvPr/>
        </p:nvPicPr>
        <p:blipFill>
          <a:blip r:embed="rId2"/>
          <a:srcRect t="11973"/>
          <a:stretch>
            <a:fillRect/>
          </a:stretch>
        </p:blipFill>
        <p:spPr>
          <a:xfrm>
            <a:off x="1371600" y="3073940"/>
            <a:ext cx="8049748" cy="1610055"/>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17D638FB-7146-DF44-CBCA-36BEB154E9EE}"/>
              </a:ext>
            </a:extLst>
          </p:cNvPr>
          <p:cNvPicPr>
            <a:picLocks noChangeAspect="1"/>
          </p:cNvPicPr>
          <p:nvPr/>
        </p:nvPicPr>
        <p:blipFill>
          <a:blip r:embed="rId3"/>
          <a:stretch>
            <a:fillRect/>
          </a:stretch>
        </p:blipFill>
        <p:spPr>
          <a:xfrm>
            <a:off x="9014975" y="4479121"/>
            <a:ext cx="2202638" cy="1532454"/>
          </a:xfrm>
          <a:prstGeom prst="rect">
            <a:avLst/>
          </a:prstGeom>
        </p:spPr>
      </p:pic>
      <p:sp>
        <p:nvSpPr>
          <p:cNvPr id="8" name="TextBox 7">
            <a:extLst>
              <a:ext uri="{FF2B5EF4-FFF2-40B4-BE49-F238E27FC236}">
                <a16:creationId xmlns:a16="http://schemas.microsoft.com/office/drawing/2014/main" id="{9924E3B2-8340-4063-251E-C3CCCEEA4CFF}"/>
              </a:ext>
            </a:extLst>
          </p:cNvPr>
          <p:cNvSpPr txBox="1"/>
          <p:nvPr/>
        </p:nvSpPr>
        <p:spPr>
          <a:xfrm>
            <a:off x="1371600" y="2062104"/>
            <a:ext cx="6468894" cy="369332"/>
          </a:xfrm>
          <a:prstGeom prst="rect">
            <a:avLst/>
          </a:prstGeom>
          <a:noFill/>
        </p:spPr>
        <p:txBody>
          <a:bodyPr wrap="square" rtlCol="0">
            <a:spAutoFit/>
          </a:bodyPr>
          <a:lstStyle/>
          <a:p>
            <a:r>
              <a:rPr lang="en-IN" b="1" dirty="0"/>
              <a:t>Calculate the average delivery time for delivered orders</a:t>
            </a:r>
          </a:p>
        </p:txBody>
      </p:sp>
    </p:spTree>
    <p:extLst>
      <p:ext uri="{BB962C8B-B14F-4D97-AF65-F5344CB8AC3E}">
        <p14:creationId xmlns:p14="http://schemas.microsoft.com/office/powerpoint/2010/main" val="14336152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E80A8-8FF8-1E94-2A45-388436A9BA88}"/>
              </a:ext>
            </a:extLst>
          </p:cNvPr>
          <p:cNvSpPr>
            <a:spLocks noGrp="1"/>
          </p:cNvSpPr>
          <p:nvPr>
            <p:ph type="title"/>
          </p:nvPr>
        </p:nvSpPr>
        <p:spPr>
          <a:xfrm>
            <a:off x="1295402" y="641664"/>
            <a:ext cx="9601196" cy="1303867"/>
          </a:xfrm>
        </p:spPr>
        <p:txBody>
          <a:bodyPr/>
          <a:lstStyle/>
          <a:p>
            <a:r>
              <a:rPr lang="en-IN" b="1" dirty="0"/>
              <a:t>Product &amp; Category Analysis</a:t>
            </a:r>
          </a:p>
        </p:txBody>
      </p:sp>
      <p:pic>
        <p:nvPicPr>
          <p:cNvPr id="7" name="Picture 6" descr="A screenshot of a computer&#10;&#10;AI-generated content may be incorrect.">
            <a:extLst>
              <a:ext uri="{FF2B5EF4-FFF2-40B4-BE49-F238E27FC236}">
                <a16:creationId xmlns:a16="http://schemas.microsoft.com/office/drawing/2014/main" id="{01C788D6-A7A8-06B0-9D04-0C9FDDE42790}"/>
              </a:ext>
            </a:extLst>
          </p:cNvPr>
          <p:cNvPicPr>
            <a:picLocks noChangeAspect="1"/>
          </p:cNvPicPr>
          <p:nvPr/>
        </p:nvPicPr>
        <p:blipFill>
          <a:blip r:embed="rId2"/>
          <a:stretch>
            <a:fillRect/>
          </a:stretch>
        </p:blipFill>
        <p:spPr>
          <a:xfrm>
            <a:off x="8314963" y="3429000"/>
            <a:ext cx="2581635" cy="2295845"/>
          </a:xfrm>
          <a:prstGeom prst="rect">
            <a:avLst/>
          </a:prstGeom>
        </p:spPr>
      </p:pic>
      <p:pic>
        <p:nvPicPr>
          <p:cNvPr id="9" name="Picture 8" descr="A screen shot of a computer code&#10;&#10;AI-generated content may be incorrect.">
            <a:extLst>
              <a:ext uri="{FF2B5EF4-FFF2-40B4-BE49-F238E27FC236}">
                <a16:creationId xmlns:a16="http://schemas.microsoft.com/office/drawing/2014/main" id="{A15D58A8-92D6-1B99-7B2C-537F864DAAD8}"/>
              </a:ext>
            </a:extLst>
          </p:cNvPr>
          <p:cNvPicPr>
            <a:picLocks noChangeAspect="1"/>
          </p:cNvPicPr>
          <p:nvPr/>
        </p:nvPicPr>
        <p:blipFill>
          <a:blip r:embed="rId3"/>
          <a:srcRect t="12364"/>
          <a:stretch>
            <a:fillRect/>
          </a:stretch>
        </p:blipFill>
        <p:spPr>
          <a:xfrm>
            <a:off x="1295402" y="2794561"/>
            <a:ext cx="4391638" cy="2295845"/>
          </a:xfrm>
          <a:prstGeom prst="rect">
            <a:avLst/>
          </a:prstGeom>
        </p:spPr>
      </p:pic>
      <p:sp>
        <p:nvSpPr>
          <p:cNvPr id="10" name="TextBox 9">
            <a:extLst>
              <a:ext uri="{FF2B5EF4-FFF2-40B4-BE49-F238E27FC236}">
                <a16:creationId xmlns:a16="http://schemas.microsoft.com/office/drawing/2014/main" id="{C1F7B022-AEDE-542F-8262-F145D71C954C}"/>
              </a:ext>
            </a:extLst>
          </p:cNvPr>
          <p:cNvSpPr txBox="1"/>
          <p:nvPr/>
        </p:nvSpPr>
        <p:spPr>
          <a:xfrm>
            <a:off x="1410511" y="2101333"/>
            <a:ext cx="5068110" cy="369332"/>
          </a:xfrm>
          <a:prstGeom prst="rect">
            <a:avLst/>
          </a:prstGeom>
          <a:noFill/>
        </p:spPr>
        <p:txBody>
          <a:bodyPr wrap="square" rtlCol="0">
            <a:spAutoFit/>
          </a:bodyPr>
          <a:lstStyle/>
          <a:p>
            <a:r>
              <a:rPr lang="en-IN" b="1" dirty="0"/>
              <a:t>Find the top most sold product categories</a:t>
            </a:r>
          </a:p>
        </p:txBody>
      </p:sp>
    </p:spTree>
    <p:extLst>
      <p:ext uri="{BB962C8B-B14F-4D97-AF65-F5344CB8AC3E}">
        <p14:creationId xmlns:p14="http://schemas.microsoft.com/office/powerpoint/2010/main" val="22086172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background with black and blue text&#10;&#10;AI-generated content may be incorrect.">
            <a:extLst>
              <a:ext uri="{FF2B5EF4-FFF2-40B4-BE49-F238E27FC236}">
                <a16:creationId xmlns:a16="http://schemas.microsoft.com/office/drawing/2014/main" id="{CDF1F2FF-874A-0197-A1BA-9AFE8EF66F57}"/>
              </a:ext>
            </a:extLst>
          </p:cNvPr>
          <p:cNvPicPr>
            <a:picLocks noChangeAspect="1"/>
          </p:cNvPicPr>
          <p:nvPr/>
        </p:nvPicPr>
        <p:blipFill>
          <a:blip r:embed="rId2"/>
          <a:srcRect t="10678"/>
          <a:stretch>
            <a:fillRect/>
          </a:stretch>
        </p:blipFill>
        <p:spPr>
          <a:xfrm>
            <a:off x="1295402" y="2587556"/>
            <a:ext cx="6389449" cy="2008163"/>
          </a:xfrm>
          <a:prstGeom prst="rect">
            <a:avLst/>
          </a:prstGeom>
        </p:spPr>
      </p:pic>
      <p:pic>
        <p:nvPicPr>
          <p:cNvPr id="7" name="Picture 6" descr="A screenshot of a data&#10;&#10;AI-generated content may be incorrect.">
            <a:extLst>
              <a:ext uri="{FF2B5EF4-FFF2-40B4-BE49-F238E27FC236}">
                <a16:creationId xmlns:a16="http://schemas.microsoft.com/office/drawing/2014/main" id="{8C8667FF-282B-476D-A624-FA7672152164}"/>
              </a:ext>
            </a:extLst>
          </p:cNvPr>
          <p:cNvPicPr>
            <a:picLocks noChangeAspect="1"/>
          </p:cNvPicPr>
          <p:nvPr/>
        </p:nvPicPr>
        <p:blipFill>
          <a:blip r:embed="rId3"/>
          <a:stretch>
            <a:fillRect/>
          </a:stretch>
        </p:blipFill>
        <p:spPr>
          <a:xfrm>
            <a:off x="5963055" y="3797793"/>
            <a:ext cx="5390746" cy="2276793"/>
          </a:xfrm>
          <a:prstGeom prst="rect">
            <a:avLst/>
          </a:prstGeom>
        </p:spPr>
      </p:pic>
      <p:sp>
        <p:nvSpPr>
          <p:cNvPr id="8" name="TextBox 7">
            <a:extLst>
              <a:ext uri="{FF2B5EF4-FFF2-40B4-BE49-F238E27FC236}">
                <a16:creationId xmlns:a16="http://schemas.microsoft.com/office/drawing/2014/main" id="{0CEA6B8D-6EF6-D8FC-64F7-4773E10121FF}"/>
              </a:ext>
            </a:extLst>
          </p:cNvPr>
          <p:cNvSpPr txBox="1"/>
          <p:nvPr/>
        </p:nvSpPr>
        <p:spPr>
          <a:xfrm>
            <a:off x="1295402" y="2041644"/>
            <a:ext cx="8519807" cy="369332"/>
          </a:xfrm>
          <a:prstGeom prst="rect">
            <a:avLst/>
          </a:prstGeom>
          <a:noFill/>
        </p:spPr>
        <p:txBody>
          <a:bodyPr wrap="square" rtlCol="0">
            <a:spAutoFit/>
          </a:bodyPr>
          <a:lstStyle/>
          <a:p>
            <a:r>
              <a:rPr lang="en-IN" b="1" dirty="0"/>
              <a:t>Calculate average weight , length, height, and width for products in each category</a:t>
            </a:r>
          </a:p>
        </p:txBody>
      </p:sp>
    </p:spTree>
    <p:extLst>
      <p:ext uri="{BB962C8B-B14F-4D97-AF65-F5344CB8AC3E}">
        <p14:creationId xmlns:p14="http://schemas.microsoft.com/office/powerpoint/2010/main" val="28371770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5D1CF-D6A7-3601-93F7-A13D4653CAA6}"/>
              </a:ext>
            </a:extLst>
          </p:cNvPr>
          <p:cNvSpPr>
            <a:spLocks noGrp="1"/>
          </p:cNvSpPr>
          <p:nvPr>
            <p:ph type="title"/>
          </p:nvPr>
        </p:nvSpPr>
        <p:spPr>
          <a:xfrm>
            <a:off x="1295402" y="602753"/>
            <a:ext cx="9601196" cy="1303867"/>
          </a:xfrm>
        </p:spPr>
        <p:txBody>
          <a:bodyPr/>
          <a:lstStyle/>
          <a:p>
            <a:r>
              <a:rPr lang="en-IN" b="1" dirty="0"/>
              <a:t>Payment &amp; Revenue Analysis</a:t>
            </a:r>
          </a:p>
        </p:txBody>
      </p:sp>
      <p:pic>
        <p:nvPicPr>
          <p:cNvPr id="5" name="Picture 4" descr="A screen shot of a computer code&#10;&#10;AI-generated content may be incorrect.">
            <a:extLst>
              <a:ext uri="{FF2B5EF4-FFF2-40B4-BE49-F238E27FC236}">
                <a16:creationId xmlns:a16="http://schemas.microsoft.com/office/drawing/2014/main" id="{E3CF3B89-B59D-B02A-30CF-FB7B20D1720F}"/>
              </a:ext>
            </a:extLst>
          </p:cNvPr>
          <p:cNvPicPr>
            <a:picLocks noChangeAspect="1"/>
          </p:cNvPicPr>
          <p:nvPr/>
        </p:nvPicPr>
        <p:blipFill>
          <a:blip r:embed="rId2"/>
          <a:srcRect t="14907"/>
          <a:stretch>
            <a:fillRect/>
          </a:stretch>
        </p:blipFill>
        <p:spPr>
          <a:xfrm>
            <a:off x="1295402" y="2976664"/>
            <a:ext cx="3400900" cy="1329426"/>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2252B620-4D43-03F1-F12A-052AA9554684}"/>
              </a:ext>
            </a:extLst>
          </p:cNvPr>
          <p:cNvPicPr>
            <a:picLocks noChangeAspect="1"/>
          </p:cNvPicPr>
          <p:nvPr/>
        </p:nvPicPr>
        <p:blipFill>
          <a:blip r:embed="rId3"/>
          <a:stretch>
            <a:fillRect/>
          </a:stretch>
        </p:blipFill>
        <p:spPr>
          <a:xfrm>
            <a:off x="8160350" y="4320682"/>
            <a:ext cx="2038635" cy="1047896"/>
          </a:xfrm>
          <a:prstGeom prst="rect">
            <a:avLst/>
          </a:prstGeom>
        </p:spPr>
      </p:pic>
      <p:sp>
        <p:nvSpPr>
          <p:cNvPr id="8" name="TextBox 7">
            <a:extLst>
              <a:ext uri="{FF2B5EF4-FFF2-40B4-BE49-F238E27FC236}">
                <a16:creationId xmlns:a16="http://schemas.microsoft.com/office/drawing/2014/main" id="{486B4B74-A08A-33DE-F7F7-DD29CB8C95A5}"/>
              </a:ext>
            </a:extLst>
          </p:cNvPr>
          <p:cNvSpPr txBox="1"/>
          <p:nvPr/>
        </p:nvSpPr>
        <p:spPr>
          <a:xfrm>
            <a:off x="1295402" y="2053585"/>
            <a:ext cx="5496127" cy="369332"/>
          </a:xfrm>
          <a:prstGeom prst="rect">
            <a:avLst/>
          </a:prstGeom>
          <a:noFill/>
        </p:spPr>
        <p:txBody>
          <a:bodyPr wrap="square" rtlCol="0">
            <a:spAutoFit/>
          </a:bodyPr>
          <a:lstStyle/>
          <a:p>
            <a:r>
              <a:rPr lang="en-IN" b="1" dirty="0"/>
              <a:t>Find the most common payment type</a:t>
            </a:r>
          </a:p>
        </p:txBody>
      </p:sp>
    </p:spTree>
    <p:extLst>
      <p:ext uri="{BB962C8B-B14F-4D97-AF65-F5344CB8AC3E}">
        <p14:creationId xmlns:p14="http://schemas.microsoft.com/office/powerpoint/2010/main" val="10754513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lose-up of a computer code&#10;&#10;AI-generated content may be incorrect.">
            <a:extLst>
              <a:ext uri="{FF2B5EF4-FFF2-40B4-BE49-F238E27FC236}">
                <a16:creationId xmlns:a16="http://schemas.microsoft.com/office/drawing/2014/main" id="{5F8D9484-6BEF-EDC2-550A-6AB58C04B72B}"/>
              </a:ext>
            </a:extLst>
          </p:cNvPr>
          <p:cNvPicPr>
            <a:picLocks noChangeAspect="1"/>
          </p:cNvPicPr>
          <p:nvPr/>
        </p:nvPicPr>
        <p:blipFill>
          <a:blip r:embed="rId2"/>
          <a:srcRect t="24334"/>
          <a:stretch>
            <a:fillRect/>
          </a:stretch>
        </p:blipFill>
        <p:spPr>
          <a:xfrm>
            <a:off x="1295402" y="2869660"/>
            <a:ext cx="5182323" cy="1110055"/>
          </a:xfrm>
          <a:prstGeom prst="rect">
            <a:avLst/>
          </a:prstGeom>
        </p:spPr>
      </p:pic>
      <p:pic>
        <p:nvPicPr>
          <p:cNvPr id="7" name="Picture 6" descr="A screenshot of a computer screen&#10;&#10;AI-generated content may be incorrect.">
            <a:extLst>
              <a:ext uri="{FF2B5EF4-FFF2-40B4-BE49-F238E27FC236}">
                <a16:creationId xmlns:a16="http://schemas.microsoft.com/office/drawing/2014/main" id="{4163ABBA-BD8D-2043-4DA7-33DD8DDEFECB}"/>
              </a:ext>
            </a:extLst>
          </p:cNvPr>
          <p:cNvPicPr>
            <a:picLocks noChangeAspect="1"/>
          </p:cNvPicPr>
          <p:nvPr/>
        </p:nvPicPr>
        <p:blipFill>
          <a:blip r:embed="rId3"/>
          <a:stretch>
            <a:fillRect/>
          </a:stretch>
        </p:blipFill>
        <p:spPr>
          <a:xfrm>
            <a:off x="8305529" y="4156634"/>
            <a:ext cx="2429214" cy="1657581"/>
          </a:xfrm>
          <a:prstGeom prst="rect">
            <a:avLst/>
          </a:prstGeom>
        </p:spPr>
      </p:pic>
      <p:sp>
        <p:nvSpPr>
          <p:cNvPr id="8" name="TextBox 7">
            <a:extLst>
              <a:ext uri="{FF2B5EF4-FFF2-40B4-BE49-F238E27FC236}">
                <a16:creationId xmlns:a16="http://schemas.microsoft.com/office/drawing/2014/main" id="{DD8A5860-C20D-0D05-EED0-FBF062D62941}"/>
              </a:ext>
            </a:extLst>
          </p:cNvPr>
          <p:cNvSpPr txBox="1"/>
          <p:nvPr/>
        </p:nvSpPr>
        <p:spPr>
          <a:xfrm>
            <a:off x="1295402" y="2044430"/>
            <a:ext cx="5340485" cy="369332"/>
          </a:xfrm>
          <a:prstGeom prst="rect">
            <a:avLst/>
          </a:prstGeom>
          <a:noFill/>
        </p:spPr>
        <p:txBody>
          <a:bodyPr wrap="square" rtlCol="0">
            <a:spAutoFit/>
          </a:bodyPr>
          <a:lstStyle/>
          <a:p>
            <a:r>
              <a:rPr lang="en-IN" b="1" dirty="0"/>
              <a:t>Calculate revenue by payment type</a:t>
            </a:r>
          </a:p>
        </p:txBody>
      </p:sp>
    </p:spTree>
    <p:extLst>
      <p:ext uri="{BB962C8B-B14F-4D97-AF65-F5344CB8AC3E}">
        <p14:creationId xmlns:p14="http://schemas.microsoft.com/office/powerpoint/2010/main" val="35707236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5582B-A811-1BEF-BEC4-1175DC76560E}"/>
              </a:ext>
            </a:extLst>
          </p:cNvPr>
          <p:cNvSpPr>
            <a:spLocks noGrp="1"/>
          </p:cNvSpPr>
          <p:nvPr>
            <p:ph type="title"/>
          </p:nvPr>
        </p:nvSpPr>
        <p:spPr>
          <a:xfrm>
            <a:off x="1295402" y="563843"/>
            <a:ext cx="9601196" cy="1303867"/>
          </a:xfrm>
        </p:spPr>
        <p:txBody>
          <a:bodyPr/>
          <a:lstStyle/>
          <a:p>
            <a:r>
              <a:rPr lang="en-IN" b="1" dirty="0"/>
              <a:t>Seller &amp; Location Analysis</a:t>
            </a:r>
          </a:p>
        </p:txBody>
      </p:sp>
      <p:pic>
        <p:nvPicPr>
          <p:cNvPr id="5" name="Picture 4" descr="A computer code with black text&#10;&#10;AI-generated content may be incorrect.">
            <a:extLst>
              <a:ext uri="{FF2B5EF4-FFF2-40B4-BE49-F238E27FC236}">
                <a16:creationId xmlns:a16="http://schemas.microsoft.com/office/drawing/2014/main" id="{FD3E45E0-46E8-84EB-08EA-CC50BA0C41E0}"/>
              </a:ext>
            </a:extLst>
          </p:cNvPr>
          <p:cNvPicPr>
            <a:picLocks noChangeAspect="1"/>
          </p:cNvPicPr>
          <p:nvPr/>
        </p:nvPicPr>
        <p:blipFill>
          <a:blip r:embed="rId2"/>
          <a:srcRect t="16690"/>
          <a:stretch>
            <a:fillRect/>
          </a:stretch>
        </p:blipFill>
        <p:spPr>
          <a:xfrm>
            <a:off x="1295402" y="3035029"/>
            <a:ext cx="3829584" cy="1309499"/>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C4E8E4B9-FF37-4DC3-CFF7-74B1BDC9B3FC}"/>
              </a:ext>
            </a:extLst>
          </p:cNvPr>
          <p:cNvPicPr>
            <a:picLocks noChangeAspect="1"/>
          </p:cNvPicPr>
          <p:nvPr/>
        </p:nvPicPr>
        <p:blipFill>
          <a:blip r:embed="rId3"/>
          <a:stretch>
            <a:fillRect/>
          </a:stretch>
        </p:blipFill>
        <p:spPr>
          <a:xfrm>
            <a:off x="8686490" y="3558607"/>
            <a:ext cx="2210108" cy="2343477"/>
          </a:xfrm>
          <a:prstGeom prst="rect">
            <a:avLst/>
          </a:prstGeom>
        </p:spPr>
      </p:pic>
      <p:sp>
        <p:nvSpPr>
          <p:cNvPr id="8" name="TextBox 7">
            <a:extLst>
              <a:ext uri="{FF2B5EF4-FFF2-40B4-BE49-F238E27FC236}">
                <a16:creationId xmlns:a16="http://schemas.microsoft.com/office/drawing/2014/main" id="{D0610709-9626-6DF5-FF50-57A3657A3332}"/>
              </a:ext>
            </a:extLst>
          </p:cNvPr>
          <p:cNvSpPr txBox="1"/>
          <p:nvPr/>
        </p:nvSpPr>
        <p:spPr>
          <a:xfrm>
            <a:off x="1295402" y="2091447"/>
            <a:ext cx="6225702" cy="369332"/>
          </a:xfrm>
          <a:prstGeom prst="rect">
            <a:avLst/>
          </a:prstGeom>
          <a:noFill/>
        </p:spPr>
        <p:txBody>
          <a:bodyPr wrap="square" rtlCol="0">
            <a:spAutoFit/>
          </a:bodyPr>
          <a:lstStyle/>
          <a:p>
            <a:r>
              <a:rPr lang="en-IN" b="1" dirty="0"/>
              <a:t>Count the number of sellers per state</a:t>
            </a:r>
          </a:p>
        </p:txBody>
      </p:sp>
    </p:spTree>
    <p:extLst>
      <p:ext uri="{BB962C8B-B14F-4D97-AF65-F5344CB8AC3E}">
        <p14:creationId xmlns:p14="http://schemas.microsoft.com/office/powerpoint/2010/main" val="34687650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 shot of a computer code&#10;&#10;AI-generated content may be incorrect.">
            <a:extLst>
              <a:ext uri="{FF2B5EF4-FFF2-40B4-BE49-F238E27FC236}">
                <a16:creationId xmlns:a16="http://schemas.microsoft.com/office/drawing/2014/main" id="{FBB23089-CE53-8346-50C9-7C85395F2A05}"/>
              </a:ext>
            </a:extLst>
          </p:cNvPr>
          <p:cNvPicPr>
            <a:picLocks noChangeAspect="1"/>
          </p:cNvPicPr>
          <p:nvPr/>
        </p:nvPicPr>
        <p:blipFill>
          <a:blip r:embed="rId2"/>
          <a:srcRect t="18869"/>
          <a:stretch>
            <a:fillRect/>
          </a:stretch>
        </p:blipFill>
        <p:spPr>
          <a:xfrm>
            <a:off x="1227306" y="3200400"/>
            <a:ext cx="5277587" cy="1298430"/>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06D7AB86-85D3-E33E-C729-B218286BB584}"/>
              </a:ext>
            </a:extLst>
          </p:cNvPr>
          <p:cNvPicPr>
            <a:picLocks noChangeAspect="1"/>
          </p:cNvPicPr>
          <p:nvPr/>
        </p:nvPicPr>
        <p:blipFill>
          <a:blip r:embed="rId3"/>
          <a:stretch>
            <a:fillRect/>
          </a:stretch>
        </p:blipFill>
        <p:spPr>
          <a:xfrm>
            <a:off x="8324489" y="4340856"/>
            <a:ext cx="2572109" cy="1390844"/>
          </a:xfrm>
          <a:prstGeom prst="rect">
            <a:avLst/>
          </a:prstGeom>
        </p:spPr>
      </p:pic>
      <p:sp>
        <p:nvSpPr>
          <p:cNvPr id="8" name="TextBox 7">
            <a:extLst>
              <a:ext uri="{FF2B5EF4-FFF2-40B4-BE49-F238E27FC236}">
                <a16:creationId xmlns:a16="http://schemas.microsoft.com/office/drawing/2014/main" id="{69FDD465-6454-E57E-9054-1FEB2F7C3DFC}"/>
              </a:ext>
            </a:extLst>
          </p:cNvPr>
          <p:cNvSpPr txBox="1"/>
          <p:nvPr/>
        </p:nvSpPr>
        <p:spPr>
          <a:xfrm>
            <a:off x="1332689" y="2091447"/>
            <a:ext cx="5826868" cy="369332"/>
          </a:xfrm>
          <a:prstGeom prst="rect">
            <a:avLst/>
          </a:prstGeom>
          <a:noFill/>
        </p:spPr>
        <p:txBody>
          <a:bodyPr wrap="square" rtlCol="0">
            <a:spAutoFit/>
          </a:bodyPr>
          <a:lstStyle/>
          <a:p>
            <a:r>
              <a:rPr lang="en-IN" b="1" dirty="0"/>
              <a:t>Identify the top 5 cities with highest seller density</a:t>
            </a:r>
          </a:p>
        </p:txBody>
      </p:sp>
    </p:spTree>
    <p:extLst>
      <p:ext uri="{BB962C8B-B14F-4D97-AF65-F5344CB8AC3E}">
        <p14:creationId xmlns:p14="http://schemas.microsoft.com/office/powerpoint/2010/main" val="4335980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DBC9F-069F-700B-C9B4-E3C6B3E10ACA}"/>
              </a:ext>
            </a:extLst>
          </p:cNvPr>
          <p:cNvSpPr>
            <a:spLocks noGrp="1"/>
          </p:cNvSpPr>
          <p:nvPr>
            <p:ph type="title"/>
          </p:nvPr>
        </p:nvSpPr>
        <p:spPr>
          <a:xfrm>
            <a:off x="1295401" y="928391"/>
            <a:ext cx="9601196" cy="1303867"/>
          </a:xfrm>
        </p:spPr>
        <p:txBody>
          <a:bodyPr/>
          <a:lstStyle/>
          <a:p>
            <a:r>
              <a:rPr lang="en-IN" b="1" dirty="0"/>
              <a:t>Insights</a:t>
            </a:r>
          </a:p>
        </p:txBody>
      </p:sp>
      <p:sp>
        <p:nvSpPr>
          <p:cNvPr id="11" name="TextBox 10">
            <a:extLst>
              <a:ext uri="{FF2B5EF4-FFF2-40B4-BE49-F238E27FC236}">
                <a16:creationId xmlns:a16="http://schemas.microsoft.com/office/drawing/2014/main" id="{F9E03291-4C5B-C819-BCD2-11E97C7330D8}"/>
              </a:ext>
            </a:extLst>
          </p:cNvPr>
          <p:cNvSpPr txBox="1"/>
          <p:nvPr/>
        </p:nvSpPr>
        <p:spPr>
          <a:xfrm>
            <a:off x="1295401" y="2513289"/>
            <a:ext cx="9601196" cy="3416320"/>
          </a:xfrm>
          <a:prstGeom prst="rect">
            <a:avLst/>
          </a:prstGeom>
          <a:noFill/>
        </p:spPr>
        <p:txBody>
          <a:bodyPr wrap="square">
            <a:spAutoFit/>
          </a:bodyPr>
          <a:lstStyle/>
          <a:p>
            <a:pPr marL="285750" indent="-285750">
              <a:buFont typeface="Arial" panose="020B0604020202020204" pitchFamily="34" charset="0"/>
              <a:buChar char="•"/>
            </a:pPr>
            <a:r>
              <a:rPr lang="en-US" dirty="0">
                <a:latin typeface="Arial" panose="020B0604020202020204" pitchFamily="34" charset="0"/>
              </a:rPr>
              <a:t>The total number of unique customers on the platform is 99,441, with the highest customer concentration in the states of SP, RJ, MG, RS, and PR.</a:t>
            </a:r>
          </a:p>
          <a:p>
            <a:pPr marL="285750" indent="-285750">
              <a:buFont typeface="Arial" panose="020B0604020202020204" pitchFamily="34" charset="0"/>
              <a:buChar char="•"/>
            </a:pPr>
            <a:r>
              <a:rPr lang="en-US" dirty="0">
                <a:latin typeface="Arial" panose="020B0604020202020204" pitchFamily="34" charset="0"/>
              </a:rPr>
              <a:t>A majority of orders are successfully completed, with 96,478 delivered orders compared to only 625 canceled orders.</a:t>
            </a:r>
          </a:p>
          <a:p>
            <a:pPr marL="285750" indent="-285750">
              <a:buFont typeface="Arial" panose="020B0604020202020204" pitchFamily="34" charset="0"/>
              <a:buChar char="•"/>
            </a:pPr>
            <a:r>
              <a:rPr lang="en-US" dirty="0">
                <a:latin typeface="Arial" panose="020B0604020202020204" pitchFamily="34" charset="0"/>
              </a:rPr>
              <a:t>The average delivery time for delivered orders is 12.5 days, highlighting the role of efficient logistics in customer satisfaction.</a:t>
            </a:r>
          </a:p>
          <a:p>
            <a:pPr marL="285750" indent="-285750">
              <a:buFont typeface="Arial" panose="020B0604020202020204" pitchFamily="34" charset="0"/>
              <a:buChar char="•"/>
            </a:pPr>
            <a:r>
              <a:rPr lang="en-US" dirty="0">
                <a:latin typeface="Arial" panose="020B0604020202020204" pitchFamily="34" charset="0"/>
              </a:rPr>
              <a:t>The most sold product categories include bed table bath, health beauty, sports leisure, furniture decoration, computer accessories, and housewares.</a:t>
            </a:r>
          </a:p>
          <a:p>
            <a:pPr marL="285750" indent="-285750">
              <a:buFont typeface="Arial" panose="020B0604020202020204" pitchFamily="34" charset="0"/>
              <a:buChar char="•"/>
            </a:pPr>
            <a:r>
              <a:rPr lang="en-US" dirty="0">
                <a:latin typeface="Arial" panose="020B0604020202020204" pitchFamily="34" charset="0"/>
              </a:rPr>
              <a:t>Product dimension analysis helped in understanding variations in weight, length, height, and width across categories, supporting better inventory and shipping planning.</a:t>
            </a:r>
          </a:p>
          <a:p>
            <a:pPr marL="285750" indent="-285750">
              <a:buFont typeface="Arial" panose="020B0604020202020204" pitchFamily="34" charset="0"/>
              <a:buChar char="•"/>
            </a:pPr>
            <a:r>
              <a:rPr lang="en-US" dirty="0">
                <a:latin typeface="Arial" panose="020B0604020202020204" pitchFamily="34" charset="0"/>
              </a:rPr>
              <a:t>Credit cards are the most commonly used payment method and also contribute the highest share of total revenue.</a:t>
            </a:r>
            <a:endParaRPr lang="en-IN" dirty="0">
              <a:latin typeface="Arial" panose="020B0604020202020204" pitchFamily="34" charset="0"/>
            </a:endParaRPr>
          </a:p>
        </p:txBody>
      </p:sp>
    </p:spTree>
    <p:extLst>
      <p:ext uri="{BB962C8B-B14F-4D97-AF65-F5344CB8AC3E}">
        <p14:creationId xmlns:p14="http://schemas.microsoft.com/office/powerpoint/2010/main" val="29354751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083B7-0407-3764-4763-C4932D992DD2}"/>
              </a:ext>
            </a:extLst>
          </p:cNvPr>
          <p:cNvSpPr>
            <a:spLocks noGrp="1"/>
          </p:cNvSpPr>
          <p:nvPr>
            <p:ph type="title"/>
          </p:nvPr>
        </p:nvSpPr>
        <p:spPr>
          <a:xfrm>
            <a:off x="1295401" y="1001587"/>
            <a:ext cx="9601196" cy="1303867"/>
          </a:xfrm>
        </p:spPr>
        <p:txBody>
          <a:bodyPr/>
          <a:lstStyle/>
          <a:p>
            <a:r>
              <a:rPr lang="en-IN" b="1" dirty="0"/>
              <a:t>Challenges</a:t>
            </a:r>
          </a:p>
        </p:txBody>
      </p:sp>
      <p:sp>
        <p:nvSpPr>
          <p:cNvPr id="5" name="Rectangle 2">
            <a:extLst>
              <a:ext uri="{FF2B5EF4-FFF2-40B4-BE49-F238E27FC236}">
                <a16:creationId xmlns:a16="http://schemas.microsoft.com/office/drawing/2014/main" id="{30BB70B9-6BB2-8611-0752-ED30310B2158}"/>
              </a:ext>
            </a:extLst>
          </p:cNvPr>
          <p:cNvSpPr>
            <a:spLocks noChangeArrowheads="1"/>
          </p:cNvSpPr>
          <p:nvPr/>
        </p:nvSpPr>
        <p:spPr bwMode="auto">
          <a:xfrm>
            <a:off x="1295401" y="2623981"/>
            <a:ext cx="9601196" cy="3000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latin typeface="Arial" panose="020B0604020202020204" pitchFamily="34" charset="0"/>
              </a:rPr>
              <a:t>Understanding and working with a large relational dataset containing multiple tables and complex relationships.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latin typeface="Arial" panose="020B0604020202020204" pitchFamily="34" charset="0"/>
              </a:rPr>
              <a:t>Handling data type issues, such as numeric values stored as text, which required casting and data cleaning.</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latin typeface="Arial" panose="020B0604020202020204" pitchFamily="34" charset="0"/>
              </a:rPr>
              <a:t>Writing correct JOINs to avoid duplicate records and ensure accurate results.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latin typeface="Arial" panose="020B0604020202020204" pitchFamily="34" charset="0"/>
              </a:rPr>
              <a:t>Managing date and time calculations for delivery and order analysis.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latin typeface="Arial" panose="020B0604020202020204" pitchFamily="34" charset="0"/>
              </a:rPr>
              <a:t>Ensuring queries were simple, optimized, and error-free while meeting assignment requirements.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latin typeface="Arial" panose="020B0604020202020204" pitchFamily="34" charset="0"/>
              </a:rPr>
              <a:t>Interpreting SQL results and converting them into meaningful business insights for presentation.</a:t>
            </a:r>
          </a:p>
        </p:txBody>
      </p:sp>
    </p:spTree>
    <p:extLst>
      <p:ext uri="{BB962C8B-B14F-4D97-AF65-F5344CB8AC3E}">
        <p14:creationId xmlns:p14="http://schemas.microsoft.com/office/powerpoint/2010/main" val="16765001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4CCD5-7EC0-C359-DE5A-BA96902287E3}"/>
              </a:ext>
            </a:extLst>
          </p:cNvPr>
          <p:cNvSpPr>
            <a:spLocks noGrp="1"/>
          </p:cNvSpPr>
          <p:nvPr>
            <p:ph type="title"/>
          </p:nvPr>
        </p:nvSpPr>
        <p:spPr/>
        <p:txBody>
          <a:bodyPr/>
          <a:lstStyle/>
          <a:p>
            <a:r>
              <a:rPr lang="en-IN" b="1" dirty="0"/>
              <a:t>Conclusion</a:t>
            </a:r>
          </a:p>
        </p:txBody>
      </p:sp>
      <p:sp>
        <p:nvSpPr>
          <p:cNvPr id="10" name="TextBox 9">
            <a:extLst>
              <a:ext uri="{FF2B5EF4-FFF2-40B4-BE49-F238E27FC236}">
                <a16:creationId xmlns:a16="http://schemas.microsoft.com/office/drawing/2014/main" id="{657FADB2-E697-CECD-AE2A-3EE151B60F42}"/>
              </a:ext>
            </a:extLst>
          </p:cNvPr>
          <p:cNvSpPr txBox="1"/>
          <p:nvPr/>
        </p:nvSpPr>
        <p:spPr>
          <a:xfrm>
            <a:off x="1295401" y="2900200"/>
            <a:ext cx="9601195" cy="1754326"/>
          </a:xfrm>
          <a:prstGeom prst="rect">
            <a:avLst/>
          </a:prstGeom>
          <a:noFill/>
        </p:spPr>
        <p:txBody>
          <a:bodyPr wrap="square">
            <a:spAutoFit/>
          </a:bodyPr>
          <a:lstStyle/>
          <a:p>
            <a:r>
              <a:rPr lang="en-US" dirty="0">
                <a:latin typeface="Arial" panose="020B0604020202020204" pitchFamily="34" charset="0"/>
              </a:rPr>
              <a:t>The analysis shows that while the platform has a strong customer base, repeat purchases are limited, indicating the need for better retention strategies. Delivery speed significantly affects customer satisfaction, with faster deliveries receiving better reviews. A few product categories and sellers contribute most of the sales and revenue, while credit cards remain the preferred payment method. Overall, improving logistics efficiency, customer retention, and seller performance can drive higher satisfaction and sustainable business growth.</a:t>
            </a:r>
          </a:p>
        </p:txBody>
      </p:sp>
    </p:spTree>
    <p:extLst>
      <p:ext uri="{BB962C8B-B14F-4D97-AF65-F5344CB8AC3E}">
        <p14:creationId xmlns:p14="http://schemas.microsoft.com/office/powerpoint/2010/main" val="12553714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389</TotalTime>
  <Words>618</Words>
  <Application>Microsoft Office PowerPoint</Application>
  <PresentationFormat>Widescreen</PresentationFormat>
  <Paragraphs>63</Paragraphs>
  <Slides>19</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Libre Baskerville</vt:lpstr>
      <vt:lpstr>Arial Black</vt:lpstr>
      <vt:lpstr>Inter</vt:lpstr>
      <vt:lpstr>Inter Bold</vt:lpstr>
      <vt:lpstr>Castellar</vt:lpstr>
      <vt:lpstr>Calibri</vt:lpstr>
      <vt:lpstr>Arial</vt:lpstr>
      <vt:lpstr>Garamond</vt:lpstr>
      <vt:lpstr>Organic</vt:lpstr>
      <vt:lpstr>PowerPoint Presentation</vt:lpstr>
      <vt:lpstr>PowerPoint Presentation</vt:lpstr>
      <vt:lpstr>Index</vt:lpstr>
      <vt:lpstr>Business Objective</vt:lpstr>
      <vt:lpstr>ER Diagram</vt:lpstr>
      <vt:lpstr>Customer Analysis</vt:lpstr>
      <vt:lpstr>Identify the top 5 states with the highest number of customers</vt:lpstr>
      <vt:lpstr>Order &amp; Delivery Analysis</vt:lpstr>
      <vt:lpstr>PowerPoint Presentation</vt:lpstr>
      <vt:lpstr>Product &amp; Category Analysis</vt:lpstr>
      <vt:lpstr>PowerPoint Presentation</vt:lpstr>
      <vt:lpstr>Payment &amp; Revenue Analysis</vt:lpstr>
      <vt:lpstr>PowerPoint Presentation</vt:lpstr>
      <vt:lpstr>Seller &amp; Location Analysis</vt:lpstr>
      <vt:lpstr>PowerPoint Presentation</vt:lpstr>
      <vt:lpstr>Insights</vt:lpstr>
      <vt:lpstr>Challenges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Aditya Warungase</cp:lastModifiedBy>
  <cp:revision>9</cp:revision>
  <dcterms:created xsi:type="dcterms:W3CDTF">2021-02-16T05:19:01Z</dcterms:created>
  <dcterms:modified xsi:type="dcterms:W3CDTF">2025-12-18T18:36:01Z</dcterms:modified>
</cp:coreProperties>
</file>